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5F5F7"/>
                </a:solidFill>
                <a:latin typeface="Georgia"/>
              </a:defRPr>
            </a:pPr>
            <a:r>
              <a:t>DESIGNALCHEMY</a:t>
            </a:r>
          </a:p>
          <a:p>
            <a:pPr algn="l">
              <a:spcBef>
                <a:spcPts val="1400"/>
              </a:spcBef>
              <a:defRPr sz="2200">
                <a:solidFill>
                  <a:srgbClr val="A855F7"/>
                </a:solidFill>
                <a:latin typeface="Arial"/>
              </a:defRPr>
            </a:pPr>
            <a:r>
              <a:t>Bespoke AI-Powered Digital Fashion Studio &amp; Vector Layering Suite</a:t>
            </a:r>
          </a:p>
          <a:p>
            <a:pPr algn="l">
              <a:spcBef>
                <a:spcPts val="4000"/>
              </a:spcBef>
              <a:defRPr sz="1400">
                <a:solidFill>
                  <a:srgbClr val="9CA3AF"/>
                </a:solidFill>
                <a:latin typeface="Arial"/>
              </a:defRPr>
            </a:pPr>
            <a:r>
              <a:t>Edge Hack 2026 Submission  |  Built by Team StyleForge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  <a:latin typeface="Georgia"/>
              </a:defRPr>
            </a:pPr>
            <a:r>
              <a:t>THE CREATIVE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21792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Edge Hack 2026 Submission  |  Project: DesignAlchemy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800"/>
              </a:spcBef>
              <a:defRPr sz="2000" b="1">
                <a:solidFill>
                  <a:srgbClr val="EAB308"/>
                </a:solidFill>
                <a:latin typeface="Georgia"/>
              </a:defRPr>
            </a:pPr>
            <a:r>
              <a:t>•  Traditional Prototyping is Slow &amp; Wasteful</a:t>
            </a:r>
          </a:p>
          <a:p>
            <a:pPr>
              <a:spcBef>
                <a:spcPts val="400"/>
              </a:spcBef>
              <a:defRPr sz="1500">
                <a:solidFill>
                  <a:srgbClr val="F5F5F7"/>
                </a:solidFill>
                <a:latin typeface="Arial"/>
              </a:defRPr>
            </a:pPr>
            <a:r>
              <a:t>Creating physical fashion swatches and assembling prototype silhouette layers involves high fabric waste and slow iterative turnaround times.</a:t>
            </a:r>
          </a:p>
          <a:p>
            <a:pPr>
              <a:spcBef>
                <a:spcPts val="1800"/>
              </a:spcBef>
              <a:defRPr sz="2000" b="1">
                <a:solidFill>
                  <a:srgbClr val="EAB308"/>
                </a:solidFill>
                <a:latin typeface="Georgia"/>
              </a:defRPr>
            </a:pPr>
            <a:r>
              <a:t>•  Lack of Direct Human-AI Collaborative Design Canvas</a:t>
            </a:r>
          </a:p>
          <a:p>
            <a:pPr>
              <a:spcBef>
                <a:spcPts val="400"/>
              </a:spcBef>
              <a:defRPr sz="1500">
                <a:solidFill>
                  <a:srgbClr val="F5F5F7"/>
                </a:solidFill>
                <a:latin typeface="Arial"/>
              </a:defRPr>
            </a:pPr>
            <a:r>
              <a:t>Generic image generators do not allow structured, incremental editing of designs, leaving designers unable to adjust fabric textures, layers, or opacities dynamically.</a:t>
            </a:r>
          </a:p>
          <a:p>
            <a:pPr>
              <a:spcBef>
                <a:spcPts val="1800"/>
              </a:spcBef>
              <a:defRPr sz="2000" b="1">
                <a:solidFill>
                  <a:srgbClr val="EAB308"/>
                </a:solidFill>
                <a:latin typeface="Georgia"/>
              </a:defRPr>
            </a:pPr>
            <a:r>
              <a:t>•  Decoupled Design Analysis</a:t>
            </a:r>
          </a:p>
          <a:p>
            <a:pPr>
              <a:spcBef>
                <a:spcPts val="400"/>
              </a:spcBef>
              <a:defRPr sz="1500">
                <a:solidFill>
                  <a:srgbClr val="F5F5F7"/>
                </a:solidFill>
                <a:latin typeface="Arial"/>
              </a:defRPr>
            </a:pPr>
            <a:r>
              <a:t>Standard tools lack an integrated design co-pilot that programmatically understands the composition of active work on a canvas (drapes, layers, textures) to give real-time styling advice.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  <a:latin typeface="Georgia"/>
              </a:defRPr>
            </a:pPr>
            <a:r>
              <a:t>OUR SOLUTION: DESIGNALCHEMY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21792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Edge Hack 2026 Submission  |  Project: DesignAlchemy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800"/>
              </a:spcBef>
              <a:defRPr sz="2000" b="1">
                <a:solidFill>
                  <a:srgbClr val="A855F7"/>
                </a:solidFill>
                <a:latin typeface="Georgia"/>
              </a:defRPr>
            </a:pPr>
            <a:r>
              <a:t>•  Generative Textile Wall</a:t>
            </a:r>
          </a:p>
          <a:p>
            <a:pPr>
              <a:spcBef>
                <a:spcPts val="400"/>
              </a:spcBef>
              <a:defRPr sz="1500">
                <a:solidFill>
                  <a:srgbClr val="F5F5F7"/>
                </a:solidFill>
                <a:latin typeface="Arial"/>
              </a:defRPr>
            </a:pPr>
            <a:r>
              <a:t>Weave bespoke fabric textures on-demand from visual/text prompts, instantly generating tileable fabric swatches using Gemini.</a:t>
            </a:r>
          </a:p>
          <a:p>
            <a:pPr>
              <a:spcBef>
                <a:spcPts val="1800"/>
              </a:spcBef>
              <a:defRPr sz="2000" b="1">
                <a:solidFill>
                  <a:srgbClr val="A855F7"/>
                </a:solidFill>
                <a:latin typeface="Georgia"/>
              </a:defRPr>
            </a:pPr>
            <a:r>
              <a:t>•  Mannequin Layering Canvas</a:t>
            </a:r>
          </a:p>
          <a:p>
            <a:pPr>
              <a:spcBef>
                <a:spcPts val="400"/>
              </a:spcBef>
              <a:defRPr sz="1500">
                <a:solidFill>
                  <a:srgbClr val="F5F5F7"/>
                </a:solidFill>
                <a:latin typeface="Arial"/>
              </a:defRPr>
            </a:pPr>
            <a:r>
              <a:t>A modular digital workspace supporting multi-layer compositions (Base Silhouette, Body Panel, Collar Accents, Lace Embellishments) with precise opacity controls.</a:t>
            </a:r>
          </a:p>
          <a:p>
            <a:pPr>
              <a:spcBef>
                <a:spcPts val="1800"/>
              </a:spcBef>
              <a:defRPr sz="2000" b="1">
                <a:solidFill>
                  <a:srgbClr val="A855F7"/>
                </a:solidFill>
                <a:latin typeface="Georgia"/>
              </a:defRPr>
            </a:pPr>
            <a:r>
              <a:t>•  Interactive Studio Muse Co-pilot</a:t>
            </a:r>
          </a:p>
          <a:p>
            <a:pPr>
              <a:spcBef>
                <a:spcPts val="400"/>
              </a:spcBef>
              <a:defRPr sz="1500">
                <a:solidFill>
                  <a:srgbClr val="F5F5F7"/>
                </a:solidFill>
                <a:latin typeface="Arial"/>
              </a:defRPr>
            </a:pPr>
            <a:r>
              <a:t>An elite AI design strategist directly connected to the canvas state. It parses the current active swatches, opacity levels, and structural layers to provide contextual couture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  <a:latin typeface="Georgia"/>
              </a:defRPr>
            </a:pPr>
            <a:r>
              <a:t>FEATURE SPOTLIGHT &amp; USER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21792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Edge Hack 2026 Submission  |  Project: DesignAlchemy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1600">
                <a:solidFill>
                  <a:srgbClr val="F5F5F7"/>
                </a:solidFill>
                <a:latin typeface="Arial"/>
              </a:defRPr>
            </a:pPr>
            <a:r>
              <a:t>•  </a:t>
            </a:r>
            <a:r>
              <a:rPr b="1">
                <a:solidFill>
                  <a:srgbClr val="EAB308"/>
                </a:solidFill>
              </a:rPr>
              <a:t>Weave Swatches: </a:t>
            </a:r>
            <a:r>
              <a:rPr b="0">
                <a:solidFill>
                  <a:srgbClr val="F5F5F7"/>
                </a:solidFill>
              </a:rPr>
              <a:t>Type prompts like 'Cyberpunk Gold Foil' to instantly generate detailed fashion textures.</a:t>
            </a:r>
          </a:p>
          <a:p>
            <a:pPr>
              <a:spcBef>
                <a:spcPts val="1400"/>
              </a:spcBef>
              <a:defRPr sz="1600">
                <a:solidFill>
                  <a:srgbClr val="F5F5F7"/>
                </a:solidFill>
                <a:latin typeface="Arial"/>
              </a:defRPr>
            </a:pPr>
            <a:r>
              <a:t>•  </a:t>
            </a:r>
            <a:r>
              <a:rPr b="1">
                <a:solidFill>
                  <a:srgbClr val="EAB308"/>
                </a:solidFill>
              </a:rPr>
              <a:t>Layer and Mix: </a:t>
            </a:r>
            <a:r>
              <a:rPr b="0">
                <a:solidFill>
                  <a:srgbClr val="F5F5F7"/>
                </a:solidFill>
              </a:rPr>
              <a:t>Select, stack, toggle visibility, and fade fabric swatches onto specific mannequin zones.</a:t>
            </a:r>
          </a:p>
          <a:p>
            <a:pPr>
              <a:spcBef>
                <a:spcPts val="1400"/>
              </a:spcBef>
              <a:defRPr sz="1600">
                <a:solidFill>
                  <a:srgbClr val="F5F5F7"/>
                </a:solidFill>
                <a:latin typeface="Arial"/>
              </a:defRPr>
            </a:pPr>
            <a:r>
              <a:t>•  </a:t>
            </a:r>
            <a:r>
              <a:rPr b="1">
                <a:solidFill>
                  <a:srgbClr val="EAB308"/>
                </a:solidFill>
              </a:rPr>
              <a:t>Co-create with Studio Muse: </a:t>
            </a:r>
            <a:r>
              <a:rPr b="0">
                <a:solidFill>
                  <a:srgbClr val="F5F5F7"/>
                </a:solidFill>
              </a:rPr>
              <a:t>Converse with your AI muse. It reads active colors and fabrics, suggesting styling lines, silhouette extension, or runway accessories.</a:t>
            </a:r>
          </a:p>
          <a:p>
            <a:pPr>
              <a:spcBef>
                <a:spcPts val="1400"/>
              </a:spcBef>
              <a:defRPr sz="1600">
                <a:solidFill>
                  <a:srgbClr val="F5F5F7"/>
                </a:solidFill>
                <a:latin typeface="Arial"/>
              </a:defRPr>
            </a:pPr>
            <a:r>
              <a:t>•  </a:t>
            </a:r>
            <a:r>
              <a:rPr b="1">
                <a:solidFill>
                  <a:srgbClr val="EAB308"/>
                </a:solidFill>
              </a:rPr>
              <a:t>Offline Mode Simulation: </a:t>
            </a:r>
            <a:r>
              <a:rPr b="0">
                <a:solidFill>
                  <a:srgbClr val="F5F5F7"/>
                </a:solidFill>
              </a:rPr>
              <a:t>If connection fails, the app falls back to a mock mode preserving continuous designer 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  <a:latin typeface="Georgia"/>
              </a:defRPr>
            </a:pPr>
            <a:r>
              <a:t>TECHNICAL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21792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Edge Hack 2026 Submission  |  Project: DesignAlchemy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 b="1">
                <a:solidFill>
                  <a:srgbClr val="A855F7"/>
                </a:solidFill>
                <a:latin typeface="Georgia"/>
              </a:defRPr>
            </a:pPr>
            <a:r>
              <a:t>•  Frontend Engine</a:t>
            </a:r>
          </a:p>
          <a:p>
            <a:pPr>
              <a:spcBef>
                <a:spcPts val="200"/>
              </a:spcBef>
              <a:defRPr sz="1400">
                <a:solidFill>
                  <a:srgbClr val="F5F5F7"/>
                </a:solidFill>
                <a:latin typeface="Arial"/>
              </a:defRPr>
            </a:pPr>
            <a:r>
              <a:t>Built on Vite + React 19 and TypeScript for an extremely fast, secure, and typed user interface.</a:t>
            </a:r>
          </a:p>
          <a:p>
            <a:pPr>
              <a:spcBef>
                <a:spcPts val="1200"/>
              </a:spcBef>
              <a:defRPr sz="1800" b="1">
                <a:solidFill>
                  <a:srgbClr val="A855F7"/>
                </a:solidFill>
                <a:latin typeface="Georgia"/>
              </a:defRPr>
            </a:pPr>
            <a:r>
              <a:t>•  Fluid Workspace Animations</a:t>
            </a:r>
          </a:p>
          <a:p>
            <a:pPr>
              <a:spcBef>
                <a:spcPts val="200"/>
              </a:spcBef>
              <a:defRPr sz="1400">
                <a:solidFill>
                  <a:srgbClr val="F5F5F7"/>
                </a:solidFill>
                <a:latin typeface="Arial"/>
              </a:defRPr>
            </a:pPr>
            <a:r>
              <a:t>Utilizes motion/react (Framer Motion) for micro-animations, layer sorting, and tab transitions.</a:t>
            </a:r>
          </a:p>
          <a:p>
            <a:pPr>
              <a:spcBef>
                <a:spcPts val="1200"/>
              </a:spcBef>
              <a:defRPr sz="1800" b="1">
                <a:solidFill>
                  <a:srgbClr val="A855F7"/>
                </a:solidFill>
                <a:latin typeface="Georgia"/>
              </a:defRPr>
            </a:pPr>
            <a:r>
              <a:t>•  Backend Services &amp; API Proxy</a:t>
            </a:r>
          </a:p>
          <a:p>
            <a:pPr>
              <a:spcBef>
                <a:spcPts val="200"/>
              </a:spcBef>
              <a:defRPr sz="1400">
                <a:solidFill>
                  <a:srgbClr val="F5F5F7"/>
                </a:solidFill>
                <a:latin typeface="Arial"/>
              </a:defRPr>
            </a:pPr>
            <a:r>
              <a:t>Node server proxy with Express handling server-side API requests to protect sensitive keys.</a:t>
            </a:r>
          </a:p>
          <a:p>
            <a:pPr>
              <a:spcBef>
                <a:spcPts val="1200"/>
              </a:spcBef>
              <a:defRPr sz="1800" b="1">
                <a:solidFill>
                  <a:srgbClr val="A855F7"/>
                </a:solidFill>
                <a:latin typeface="Georgia"/>
              </a:defRPr>
            </a:pPr>
            <a:r>
              <a:t>•  Gemini Cognitive Layer</a:t>
            </a:r>
          </a:p>
          <a:p>
            <a:pPr>
              <a:spcBef>
                <a:spcPts val="200"/>
              </a:spcBef>
              <a:defRPr sz="1400">
                <a:solidFill>
                  <a:srgbClr val="F5F5F7"/>
                </a:solidFill>
                <a:latin typeface="Arial"/>
              </a:defRPr>
            </a:pPr>
            <a:r>
              <a:t>Integrates @google/genai SDK leveraging the gemini-2.0-flash model for high-speed content generation and interactive design chat.</a:t>
            </a:r>
          </a:p>
          <a:p>
            <a:pPr>
              <a:spcBef>
                <a:spcPts val="1200"/>
              </a:spcBef>
              <a:defRPr sz="1800" b="1">
                <a:solidFill>
                  <a:srgbClr val="A855F7"/>
                </a:solidFill>
                <a:latin typeface="Georgia"/>
              </a:defRPr>
            </a:pPr>
            <a:r>
              <a:t>•  Vercel Edge Ready</a:t>
            </a:r>
          </a:p>
          <a:p>
            <a:pPr>
              <a:spcBef>
                <a:spcPts val="200"/>
              </a:spcBef>
              <a:defRPr sz="1400">
                <a:solidFill>
                  <a:srgbClr val="F5F5F7"/>
                </a:solidFill>
                <a:latin typeface="Arial"/>
              </a:defRPr>
            </a:pPr>
            <a:r>
              <a:t>Fully configured for serverless deployment on Vercel via vercel.json routing and API serverless entry 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  <a:latin typeface="Georgia"/>
              </a:defRPr>
            </a:pPr>
            <a:r>
              <a:t>SUBMISSION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21792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Edge Hack 2026 Submission  |  Project: DesignAlchemy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>
                <a:solidFill>
                  <a:srgbClr val="F5F5F7"/>
                </a:solidFill>
                <a:latin typeface="Arial"/>
              </a:defRPr>
            </a:pPr>
            <a:r>
              <a:t>Team StyleForge is pleased to submit the following deliverables for review:</a:t>
            </a:r>
          </a:p>
          <a:p>
            <a:pPr>
              <a:spcBef>
                <a:spcPts val="1800"/>
              </a:spcBef>
              <a:defRPr sz="1800" b="1">
                <a:solidFill>
                  <a:srgbClr val="EAB308"/>
                </a:solidFill>
                <a:latin typeface="Georgia"/>
              </a:defRPr>
            </a:pPr>
            <a:r>
              <a:t>•  GitHub Repository Link</a:t>
            </a:r>
          </a:p>
          <a:p>
            <a:pPr>
              <a:spcBef>
                <a:spcPts val="200"/>
              </a:spcBef>
              <a:defRPr sz="1500" b="1">
                <a:solidFill>
                  <a:srgbClr val="A855F7"/>
                </a:solidFill>
                <a:latin typeface="Arial"/>
              </a:defRPr>
            </a:pPr>
            <a:r>
              <a:t>URL: https://github.com/arnav-git-hub/styleforge</a:t>
            </a:r>
          </a:p>
          <a:p>
            <a:pPr>
              <a:spcBef>
                <a:spcPts val="200"/>
              </a:spcBef>
              <a:defRPr sz="1400">
                <a:solidFill>
                  <a:srgbClr val="9CA3AF"/>
                </a:solidFill>
                <a:latin typeface="Arial"/>
              </a:defRPr>
            </a:pPr>
            <a:r>
              <a:t>Source code, server structure, layering canvas, and custom serverless functions.</a:t>
            </a:r>
          </a:p>
          <a:p>
            <a:pPr>
              <a:spcBef>
                <a:spcPts val="1800"/>
              </a:spcBef>
              <a:defRPr sz="1800" b="1">
                <a:solidFill>
                  <a:srgbClr val="EAB308"/>
                </a:solidFill>
                <a:latin typeface="Georgia"/>
              </a:defRPr>
            </a:pPr>
            <a:r>
              <a:t>•  Interactive Demo Video</a:t>
            </a:r>
          </a:p>
          <a:p>
            <a:pPr>
              <a:spcBef>
                <a:spcPts val="200"/>
              </a:spcBef>
              <a:defRPr sz="1500" b="1">
                <a:solidFill>
                  <a:srgbClr val="A855F7"/>
                </a:solidFill>
                <a:latin typeface="Arial"/>
              </a:defRPr>
            </a:pPr>
            <a:r>
              <a:t>URL: https://github.com/arnav-git-hub/styleforge/raw/main/artifacts/designalchemy_walkthrough.webp</a:t>
            </a:r>
          </a:p>
          <a:p>
            <a:pPr>
              <a:spcBef>
                <a:spcPts val="200"/>
              </a:spcBef>
              <a:defRPr sz="1400">
                <a:solidFill>
                  <a:srgbClr val="9CA3AF"/>
                </a:solidFill>
                <a:latin typeface="Arial"/>
              </a:defRPr>
            </a:pPr>
            <a:r>
              <a:t>Recorded walkthrough showing the complete user flow from fabric generation to Studio Muse interaction.</a:t>
            </a:r>
          </a:p>
          <a:p>
            <a:pPr>
              <a:spcBef>
                <a:spcPts val="1800"/>
              </a:spcBef>
              <a:defRPr sz="1800" b="1">
                <a:solidFill>
                  <a:srgbClr val="EAB308"/>
                </a:solidFill>
                <a:latin typeface="Georgia"/>
              </a:defRPr>
            </a:pPr>
            <a:r>
              <a:t>•  Local Dev Environment</a:t>
            </a:r>
          </a:p>
          <a:p>
            <a:pPr>
              <a:spcBef>
                <a:spcPts val="200"/>
              </a:spcBef>
              <a:defRPr sz="1500" b="1">
                <a:solidFill>
                  <a:srgbClr val="A855F7"/>
                </a:solidFill>
                <a:latin typeface="Arial"/>
              </a:defRPr>
            </a:pPr>
            <a:r>
              <a:t>URL: http://localhost:3000</a:t>
            </a:r>
          </a:p>
          <a:p>
            <a:pPr>
              <a:spcBef>
                <a:spcPts val="200"/>
              </a:spcBef>
              <a:defRPr sz="1400">
                <a:solidFill>
                  <a:srgbClr val="9CA3AF"/>
                </a:solidFill>
                <a:latin typeface="Arial"/>
              </a:defRPr>
            </a:pPr>
            <a:r>
              <a:t>Live design studio workspace running on the local development 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